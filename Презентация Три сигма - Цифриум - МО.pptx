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8FFE0B-B635-4D04-A863-57232D291D0F}">
  <a:tblStyle styleId="{978FFE0B-B635-4D04-A863-57232D291D0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-regular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Mono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81405f2e5_2_5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d81405f2e5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81405f2e5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d81405f2e5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81405f2e5_2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d81405f2e5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На данном слайде представлена проблематика и задачи, над которыми команда работала в рамках Хакатона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81405f2e5_2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d81405f2e5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81405f2e5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d81405f2e5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8323781e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d8323781e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8323781e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d8323781e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200">
                <a:solidFill>
                  <a:srgbClr val="0A0A0A"/>
                </a:solidFill>
              </a:rPr>
              <a:t>Kitchen Sink Ensemble</a:t>
            </a:r>
            <a:r>
              <a:rPr lang="ru" sz="1200">
                <a:solidFill>
                  <a:srgbClr val="0A0A0A"/>
                </a:solidFill>
              </a:rPr>
              <a:t> позволил модели увидеть не только </a:t>
            </a:r>
            <a:r>
              <a:rPr i="1" lang="ru" sz="1200">
                <a:solidFill>
                  <a:srgbClr val="0A0A0A"/>
                </a:solidFill>
              </a:rPr>
              <a:t>что</a:t>
            </a:r>
            <a:r>
              <a:rPr lang="ru" sz="1200">
                <a:solidFill>
                  <a:srgbClr val="0A0A0A"/>
                </a:solidFill>
              </a:rPr>
              <a:t> делает студент, но и </a:t>
            </a:r>
            <a:r>
              <a:rPr i="1" lang="ru" sz="1200">
                <a:solidFill>
                  <a:srgbClr val="0A0A0A"/>
                </a:solidFill>
              </a:rPr>
              <a:t>как</a:t>
            </a:r>
            <a:r>
              <a:rPr lang="ru" sz="1200">
                <a:solidFill>
                  <a:srgbClr val="0A0A0A"/>
                </a:solidFill>
              </a:rPr>
              <a:t> меняется его состояние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8323781e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d8323781e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8323781e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d8323781e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1200">
                <a:solidFill>
                  <a:srgbClr val="1F2328"/>
                </a:solidFill>
                <a:highlight>
                  <a:srgbClr val="FFFFFF"/>
                </a:highlight>
              </a:rPr>
              <a:t>Permutation Importance и Cox Hazard Ratios, чтобы объяснить, какие признаки сильнее всего двигают риск вверх или вниз =&gt; результат модели не остается "черным ящиком", а переводится в понятные поведенческие паттерны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8816f0a7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d8816f0a7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1200">
                <a:solidFill>
                  <a:srgbClr val="1F2328"/>
                </a:solidFill>
                <a:highlight>
                  <a:srgbClr val="FFFFFF"/>
                </a:highlight>
              </a:rPr>
              <a:t>Permutation Importance и Cox Hazard Ratios, чтобы объяснить, какие признаки сильнее всего двигают риск вверх или вниз =&gt; результат модели не остается "черным ящиком", а переводится в понятные поведенческие паттерны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8816f0a7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8816f0a7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8323781e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d8323781e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На дашборде отображается распределение студентов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8816f0a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8816f0a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На дашборде отображается распределение студентов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8323781e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d8323781e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Т.к. Завершение обучения по М1 было НЕравномерным и переход на новый модуль происходил итеративно, а с М2 процесс выравнивается, обучение целесообразнее проводить на более стабильных модулях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81405f2e5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d81405f2e5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81405f2e5_2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d81405f2e5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1264525" y="2039175"/>
            <a:ext cx="6341400" cy="1982100"/>
          </a:xfrm>
          <a:prstGeom prst="roundRect">
            <a:avLst>
              <a:gd fmla="val 125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Машинное обучение.</a:t>
            </a:r>
            <a:br>
              <a:rPr lang="ru" sz="4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Создание прогнозной модели успешности студентов</a:t>
            </a:r>
            <a:endParaRPr b="0" i="0" sz="1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5738" y="4311825"/>
            <a:ext cx="1762125" cy="619125"/>
          </a:xfrm>
          <a:prstGeom prst="rect">
            <a:avLst/>
          </a:prstGeom>
          <a:gradFill>
            <a:gsLst>
              <a:gs pos="0">
                <a:srgbClr val="CAE3F5"/>
              </a:gs>
              <a:gs pos="100000">
                <a:srgbClr val="61A7DB"/>
              </a:gs>
            </a:gsLst>
            <a:lin ang="5400012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671513" rotWithShape="0" algn="bl" dir="2700000" dist="19050">
              <a:srgbClr val="000000">
                <a:alpha val="31000"/>
              </a:srgbClr>
            </a:outerShdw>
            <a:reflection blurRad="0" dir="5400000" dist="38100" endA="0" endPos="1000" fadeDir="5400012" kx="0" rotWithShape="0" algn="bl" stPos="0" sy="-100000" ky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Три сигма</a:t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902650" y="1154000"/>
            <a:ext cx="1305300" cy="1305300"/>
          </a:xfrm>
          <a:prstGeom prst="ellipse">
            <a:avLst/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00" lIns="82900" spcFirstLastPara="1" rIns="82900" wrap="square" tIns="82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Arial"/>
              <a:buNone/>
            </a:pPr>
            <a:r>
              <a:t/>
            </a:r>
            <a:endParaRPr b="0" i="0" sz="126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6"/>
          <p:cNvSpPr/>
          <p:nvPr/>
        </p:nvSpPr>
        <p:spPr>
          <a:xfrm>
            <a:off x="2207950" y="3064377"/>
            <a:ext cx="1305300" cy="1305300"/>
          </a:xfrm>
          <a:prstGeom prst="ellipse">
            <a:avLst/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00" lIns="82900" spcFirstLastPara="1" rIns="82900" wrap="square" tIns="82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Arial"/>
              <a:buNone/>
            </a:pPr>
            <a:r>
              <a:t/>
            </a:r>
            <a:endParaRPr b="0" i="0" sz="126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6"/>
          <p:cNvSpPr/>
          <p:nvPr/>
        </p:nvSpPr>
        <p:spPr>
          <a:xfrm>
            <a:off x="3656299" y="1154000"/>
            <a:ext cx="1305300" cy="1305300"/>
          </a:xfrm>
          <a:prstGeom prst="ellipse">
            <a:avLst/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00" lIns="82900" spcFirstLastPara="1" rIns="82900" wrap="square" tIns="82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Arial"/>
              <a:buNone/>
            </a:pPr>
            <a:r>
              <a:t/>
            </a:r>
            <a:endParaRPr b="0" i="0" sz="126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6"/>
          <p:cNvSpPr/>
          <p:nvPr/>
        </p:nvSpPr>
        <p:spPr>
          <a:xfrm>
            <a:off x="5343300" y="3064375"/>
            <a:ext cx="1196700" cy="1305300"/>
          </a:xfrm>
          <a:prstGeom prst="ellipse">
            <a:avLst/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00" lIns="82900" spcFirstLastPara="1" rIns="82900" wrap="square" tIns="82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Arial"/>
              <a:buNone/>
            </a:pPr>
            <a:r>
              <a:t/>
            </a:r>
            <a:endParaRPr b="0" i="0" sz="126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6"/>
          <p:cNvSpPr/>
          <p:nvPr/>
        </p:nvSpPr>
        <p:spPr>
          <a:xfrm>
            <a:off x="6409573" y="1154000"/>
            <a:ext cx="1305300" cy="1305300"/>
          </a:xfrm>
          <a:prstGeom prst="ellipse">
            <a:avLst/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00" lIns="82900" spcFirstLastPara="1" rIns="82900" wrap="square" tIns="82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Arial"/>
              <a:buNone/>
            </a:pPr>
            <a:r>
              <a:t/>
            </a:r>
            <a:endParaRPr b="0" i="0" sz="126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6" title="52311817507912477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8999" y="3039600"/>
            <a:ext cx="1305300" cy="135485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6"/>
          <p:cNvSpPr txBox="1"/>
          <p:nvPr>
            <p:ph idx="1" type="body"/>
          </p:nvPr>
        </p:nvSpPr>
        <p:spPr>
          <a:xfrm>
            <a:off x="4074125" y="4123025"/>
            <a:ext cx="154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ru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Ширяева Алиса</a:t>
            </a:r>
            <a:br>
              <a:rPr lang="ru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Визуализация</a:t>
            </a:r>
            <a:endParaRPr sz="12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26" title="54206417175195859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1538" y="1070100"/>
            <a:ext cx="1414450" cy="147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4700398" y="2249238"/>
            <a:ext cx="16266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530"/>
              <a:buNone/>
            </a:pPr>
            <a:r>
              <a:rPr b="1" lang="ru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Дружинин Антон</a:t>
            </a:r>
            <a:br>
              <a:rPr lang="ru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Обучение модели</a:t>
            </a:r>
            <a:endParaRPr sz="12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5" name="Google Shape;115;p26" title="542050075239796440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7950" y="3019300"/>
            <a:ext cx="1305300" cy="152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6" title="121294450195337417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8088" y="1041050"/>
            <a:ext cx="1414425" cy="15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6"/>
          <p:cNvSpPr txBox="1"/>
          <p:nvPr>
            <p:ph idx="1" type="body"/>
          </p:nvPr>
        </p:nvSpPr>
        <p:spPr>
          <a:xfrm>
            <a:off x="1974950" y="2249250"/>
            <a:ext cx="16266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ct val="112500"/>
              <a:buNone/>
            </a:pPr>
            <a:r>
              <a:rPr b="1"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Кухтинова Мария</a:t>
            </a:r>
            <a:b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капитан команды, </a:t>
            </a:r>
            <a:b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EDA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26" title="542015519221423093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55025" y="1018538"/>
            <a:ext cx="1542600" cy="1576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6"/>
          <p:cNvSpPr txBox="1"/>
          <p:nvPr>
            <p:ph idx="1" type="body"/>
          </p:nvPr>
        </p:nvSpPr>
        <p:spPr>
          <a:xfrm>
            <a:off x="7425850" y="2297700"/>
            <a:ext cx="1542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ru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Пижурин Юрий</a:t>
            </a:r>
            <a:br>
              <a:rPr lang="ru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Feature Engineering</a:t>
            </a:r>
            <a:endParaRPr sz="12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26"/>
          <p:cNvSpPr txBox="1"/>
          <p:nvPr>
            <p:ph idx="1" type="body"/>
          </p:nvPr>
        </p:nvSpPr>
        <p:spPr>
          <a:xfrm>
            <a:off x="902650" y="4086875"/>
            <a:ext cx="1542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ru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Письман Софья</a:t>
            </a:r>
            <a:br>
              <a:rPr lang="ru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2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Классификация</a:t>
            </a:r>
            <a:endParaRPr sz="12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Цель и з</a:t>
            </a: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адачи</a:t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Цель</a:t>
            </a: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: Создание прогнозной модели успешности студентов, обучающихся на курсах Цифриум, для выявления паттернов оттока и повышения доходимости онлайн-курсов</a:t>
            </a:r>
            <a:b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Задачи</a:t>
            </a: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Char char="-"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Предобработка полученных данных о поведении студентов в LMS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Char char="-"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Создание информативных признаков на основе LMS-логов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Char char="-"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Построение модели, прогнозирующей вероятность бросания курса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Char char="-"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Формулирование выводов 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Решение</a:t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8"/>
          <p:cNvSpPr/>
          <p:nvPr/>
        </p:nvSpPr>
        <p:spPr>
          <a:xfrm>
            <a:off x="311700" y="1212275"/>
            <a:ext cx="8118000" cy="1185600"/>
          </a:xfrm>
          <a:prstGeom prst="roundRect">
            <a:avLst>
              <a:gd fmla="val 19152" name="adj"/>
            </a:avLst>
          </a:prstGeom>
          <a:solidFill>
            <a:schemeClr val="lt1"/>
          </a:solidFill>
          <a:ln cap="flat" cmpd="sng" w="19050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На основе анализа данных об активности студентов за 2025г.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Char char="-"/>
            </a:pPr>
            <a:r>
              <a:rPr i="1"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Выявлены группы риска и паттерны оттока студентов</a:t>
            </a: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Char char="-"/>
            </a:pPr>
            <a:r>
              <a:rPr i="1"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Подготовлен прототип прогнозной модели</a:t>
            </a: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8"/>
          <p:cNvSpPr/>
          <p:nvPr/>
        </p:nvSpPr>
        <p:spPr>
          <a:xfrm>
            <a:off x="311700" y="2571750"/>
            <a:ext cx="8118000" cy="2357400"/>
          </a:xfrm>
          <a:prstGeom prst="roundRect">
            <a:avLst>
              <a:gd fmla="val 19152" name="adj"/>
            </a:avLst>
          </a:prstGeom>
          <a:solidFill>
            <a:schemeClr val="lt1"/>
          </a:solidFill>
          <a:ln cap="flat" cmpd="sng" w="19050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600" u="none" cap="none" strike="noStrike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Основные </a:t>
            </a: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этапы</a:t>
            </a:r>
            <a:r>
              <a:rPr b="0" i="0" lang="ru" sz="1600" u="none" cap="none" strike="noStrike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работы</a:t>
            </a:r>
            <a:r>
              <a:rPr b="0" i="0" lang="ru" sz="1600" u="none" cap="none" strike="noStrike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br>
              <a:rPr b="0" i="0" lang="ru" sz="1600" u="none" cap="none" strike="noStrike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600" u="none" cap="none" strike="noStrike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Char char="-"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Проведен EDA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Char char="-"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Сформирован единый датасет по модулям (+эвристический таргет)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Char char="-"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Сформирована витрина данных для обучения модели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Char char="-"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Выявлен топ-признаков для выявления групп риска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Char char="-"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Проведена сегментация методом “Светофор”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Char char="-"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Протестированы разные подходы при выборе модели 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Технологический стек и архитектура</a:t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9"/>
          <p:cNvSpPr/>
          <p:nvPr/>
        </p:nvSpPr>
        <p:spPr>
          <a:xfrm>
            <a:off x="311700" y="1176800"/>
            <a:ext cx="8118000" cy="1554000"/>
          </a:xfrm>
          <a:prstGeom prst="roundRect">
            <a:avLst>
              <a:gd fmla="val 23213" name="adj"/>
            </a:avLst>
          </a:prstGeom>
          <a:noFill/>
          <a:ln cap="flat" cmpd="sng" w="19050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22666"/>
              </a:buClr>
              <a:buSzPts val="1500"/>
              <a:buChar char="●"/>
            </a:pPr>
            <a:r>
              <a:rPr b="1" lang="ru" sz="1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Язык:</a:t>
            </a:r>
            <a:r>
              <a:rPr lang="ru" sz="1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Python</a:t>
            </a:r>
            <a:endParaRPr sz="15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500"/>
              <a:buChar char="●"/>
            </a:pPr>
            <a:r>
              <a:rPr b="1" lang="ru" sz="1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Библиотеки анализа данных:</a:t>
            </a:r>
            <a:r>
              <a:rPr lang="ru" sz="1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Pandas, NumPy</a:t>
            </a:r>
            <a:endParaRPr sz="15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500"/>
              <a:buChar char="●"/>
            </a:pPr>
            <a:r>
              <a:rPr b="1" lang="ru" sz="1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Визуализация:</a:t>
            </a:r>
            <a:r>
              <a:rPr lang="ru" sz="1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Matplotlib, Seaborn</a:t>
            </a:r>
            <a:endParaRPr sz="15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500"/>
              <a:buChar char="●"/>
            </a:pPr>
            <a:r>
              <a:rPr b="1" lang="ru" sz="1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Машинное обучение:</a:t>
            </a:r>
            <a:r>
              <a:rPr lang="ru" sz="1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Scikit-learn, CatBoost, Scikit-survival</a:t>
            </a:r>
            <a:endParaRPr sz="15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9"/>
          <p:cNvSpPr/>
          <p:nvPr/>
        </p:nvSpPr>
        <p:spPr>
          <a:xfrm>
            <a:off x="311700" y="2826375"/>
            <a:ext cx="8118000" cy="1848900"/>
          </a:xfrm>
          <a:prstGeom prst="roundRect">
            <a:avLst>
              <a:gd fmla="val 23213" name="adj"/>
            </a:avLst>
          </a:prstGeom>
          <a:solidFill>
            <a:srgbClr val="D9F2FF"/>
          </a:solidFill>
          <a:ln cap="flat" cmpd="sng" w="19050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Модели </a:t>
            </a: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Random Survival Forest, Cox Proportional Hazards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Уровень детализации</a:t>
            </a: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: [User] × [Course]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Target</a:t>
            </a: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Предсказание статуса М3 по данным stats__module_3 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Обучение модели, ее скоринг по таргету M1 + M2 и отдельно по оценке M3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Техническая реализация</a:t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30"/>
          <p:cNvSpPr/>
          <p:nvPr/>
        </p:nvSpPr>
        <p:spPr>
          <a:xfrm>
            <a:off x="311700" y="1264275"/>
            <a:ext cx="8235600" cy="2717700"/>
          </a:xfrm>
          <a:prstGeom prst="roundRect">
            <a:avLst>
              <a:gd fmla="val 23213" name="adj"/>
            </a:avLst>
          </a:prstGeom>
          <a:solidFill>
            <a:srgbClr val="FFE2EF"/>
          </a:solidFill>
          <a:ln cap="flat" cmpd="sng" w="19050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Ход</a:t>
            </a:r>
            <a:r>
              <a:rPr b="1" i="0" lang="ru" sz="1600" u="none" cap="none" strike="noStrike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работы</a:t>
            </a:r>
            <a:endParaRPr b="1" i="0" sz="1600" u="none" cap="none" strike="noStrike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Предобработка данных (очистка, удаление дублей, выявление зависимостей)</a:t>
            </a:r>
            <a:b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Подготовка витрин данных для обучения модели</a:t>
            </a:r>
            <a:b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Подготовка данных, ограниченных по времени для обучения модели (7, 14, 21 дня с начала модуля, экватор модуля)</a:t>
            </a:r>
            <a:b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Feature Engineering</a:t>
            </a:r>
            <a:b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Обучение моделей, их интерпретация, представление результатов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/>
          <p:nvPr>
            <p:ph type="title"/>
          </p:nvPr>
        </p:nvSpPr>
        <p:spPr>
          <a:xfrm>
            <a:off x="311700" y="445025"/>
            <a:ext cx="859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Feature engineering</a:t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31"/>
          <p:cNvSpPr txBox="1"/>
          <p:nvPr>
            <p:ph idx="1" type="body"/>
          </p:nvPr>
        </p:nvSpPr>
        <p:spPr>
          <a:xfrm>
            <a:off x="2705300" y="1467475"/>
            <a:ext cx="33276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Генерация </a:t>
            </a:r>
            <a:b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78 признаков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31"/>
          <p:cNvSpPr/>
          <p:nvPr/>
        </p:nvSpPr>
        <p:spPr>
          <a:xfrm>
            <a:off x="3949900" y="2486550"/>
            <a:ext cx="888900" cy="3810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950" y="1270000"/>
            <a:ext cx="2918375" cy="260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6275" y="1168600"/>
            <a:ext cx="2806300" cy="280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/>
          <p:nvPr>
            <p:ph type="title"/>
          </p:nvPr>
        </p:nvSpPr>
        <p:spPr>
          <a:xfrm>
            <a:off x="311700" y="445025"/>
            <a:ext cx="859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Топ </a:t>
            </a: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фичей</a:t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463" y="929800"/>
            <a:ext cx="6679575" cy="368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3"/>
          <p:cNvSpPr txBox="1"/>
          <p:nvPr>
            <p:ph type="title"/>
          </p:nvPr>
        </p:nvSpPr>
        <p:spPr>
          <a:xfrm>
            <a:off x="311700" y="445025"/>
            <a:ext cx="859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Интерпретация модели</a:t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75" y="1175375"/>
            <a:ext cx="8904975" cy="39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type="title"/>
          </p:nvPr>
        </p:nvSpPr>
        <p:spPr>
          <a:xfrm>
            <a:off x="311700" y="445025"/>
            <a:ext cx="859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Интерпретация модели</a:t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4913" y="1017725"/>
            <a:ext cx="5484682" cy="362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Google Shape;178;p35"/>
          <p:cNvGraphicFramePr/>
          <p:nvPr/>
        </p:nvGraphicFramePr>
        <p:xfrm>
          <a:off x="38100" y="14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{978FFE0B-B635-4D04-A863-57232D291D0F}</a:tableStyleId>
              </a:tblPr>
              <a:tblGrid>
                <a:gridCol w="3105150"/>
                <a:gridCol w="3486150"/>
                <a:gridCol w="2476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Наблюдение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Возможный механизм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Как проверять дальше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Высокий </a:t>
                      </a:r>
                      <a:r>
                        <a:rPr lang="ru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LMS_days_since_last_action_zscore</a:t>
                      </a:r>
                      <a:r>
                        <a:rPr lang="ru" sz="1100"/>
                        <a:t> повышает риск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Длинная пауза относительно когорты означает потерю учебного ритма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A/B: мягкий контакт после 3-5 дней аномальной тишины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Высокий </a:t>
                      </a:r>
                      <a:r>
                        <a:rPr lang="ru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LMS_ratio_weekend</a:t>
                      </a:r>
                      <a:r>
                        <a:rPr lang="ru" sz="1100"/>
                        <a:t> повышает риск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Учеба только на выходных похожа на накопление долга и повышает вероятность срыва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Проверить эффект недельных микро-дедлайнов и weekday-напоминаний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Высокий </a:t>
                      </a:r>
                      <a:r>
                        <a:rPr lang="ru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actions_total_zscore</a:t>
                      </a:r>
                      <a:r>
                        <a:rPr lang="ru" sz="1100"/>
                        <a:t> повышает риск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Всплеск кликов может означать не продуктивность, а хаотичный поиск, попытку догнать, проблемы с навигацией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Добавить события "ошибки", "повторные открытия", время между действиями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Высокий </a:t>
                      </a:r>
                      <a:r>
                        <a:rPr lang="ru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SOC_peer_activity_ratio</a:t>
                      </a:r>
                      <a:r>
                        <a:rPr lang="ru" sz="1100"/>
                        <a:t> снижает риск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Студент, идущий в темпе группы, получает больше контекста и меньше копит отставание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Сравнить интервенции для студентов, отстающих от медианы группы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Широкий охват уроков снижает риск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Студент движется по программе последовательно и не застревает на узком участке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Добавить карту сложных тем и прогресс по конкретным урокам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Risk score студентов</a:t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36"/>
          <p:cNvSpPr txBox="1"/>
          <p:nvPr>
            <p:ph idx="1" type="body"/>
          </p:nvPr>
        </p:nvSpPr>
        <p:spPr>
          <a:xfrm>
            <a:off x="311700" y="1152475"/>
            <a:ext cx="2508000" cy="3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Сегментация методом “</a:t>
            </a:r>
            <a:r>
              <a:rPr b="1"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Светофор</a:t>
            </a: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”:</a:t>
            </a:r>
            <a:b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- зона высокого риска</a:t>
            </a:r>
            <a:b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- потенциальный риск</a:t>
            </a:r>
            <a:b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- актиные студенты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5" name="Google Shape;185;p36" title="output33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7600" y="1152475"/>
            <a:ext cx="5148603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Risk score студентов</a:t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1" name="Google Shape;19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60263"/>
            <a:ext cx="9144002" cy="340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Ключевые метрики</a:t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4832400" y="1539575"/>
            <a:ext cx="3999900" cy="23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Основная модель: Random Survival Forest (RSF)</a:t>
            </a:r>
            <a:br>
              <a:rPr b="1"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для оценки динамики риска во времени</a:t>
            </a:r>
            <a:endParaRPr i="1" sz="1300">
              <a:solidFill>
                <a:srgbClr val="0A0A0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b="1"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C-index:</a:t>
            </a:r>
            <a:r>
              <a:rPr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150">
                <a:solidFill>
                  <a:srgbClr val="0A0A0A"/>
                </a:solidFill>
                <a:highlight>
                  <a:srgbClr val="F0F2F5"/>
                </a:highlight>
                <a:latin typeface="Roboto"/>
                <a:ea typeface="Roboto"/>
                <a:cs typeface="Roboto"/>
                <a:sym typeface="Roboto"/>
              </a:rPr>
              <a:t>0.766</a:t>
            </a:r>
            <a:r>
              <a:rPr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 (± 0.024) — </a:t>
            </a:r>
            <a:r>
              <a:rPr i="1"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предсказывает очередность</a:t>
            </a:r>
            <a:r>
              <a:rPr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 отсева</a:t>
            </a:r>
            <a:endParaRPr sz="1300">
              <a:solidFill>
                <a:srgbClr val="0A0A0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b="1"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Out-of-Time validation(M2 → M3) </a:t>
            </a:r>
            <a:r>
              <a:rPr b="1"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C-index</a:t>
            </a:r>
            <a:r>
              <a:rPr b="1"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150">
                <a:solidFill>
                  <a:srgbClr val="0A0A0A"/>
                </a:solidFill>
                <a:highlight>
                  <a:srgbClr val="F0F2F5"/>
                </a:highlight>
                <a:latin typeface="Roboto"/>
                <a:ea typeface="Roboto"/>
                <a:cs typeface="Roboto"/>
                <a:sym typeface="Roboto"/>
              </a:rPr>
              <a:t>0.764</a:t>
            </a:r>
            <a:r>
              <a:rPr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 — модель стабильна и сохраняет точность на новых потоках студентов</a:t>
            </a:r>
            <a:endParaRPr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38"/>
          <p:cNvSpPr txBox="1"/>
          <p:nvPr>
            <p:ph idx="2" type="body"/>
          </p:nvPr>
        </p:nvSpPr>
        <p:spPr>
          <a:xfrm>
            <a:off x="311700" y="10177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CatBoost</a:t>
            </a:r>
            <a:br>
              <a:rPr b="1"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для классификации студентов</a:t>
            </a:r>
            <a:endParaRPr i="1" sz="1300">
              <a:solidFill>
                <a:srgbClr val="0A0A0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b="1"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Внутренняя точность:</a:t>
            </a:r>
            <a:r>
              <a:rPr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150">
                <a:solidFill>
                  <a:srgbClr val="0A0A0A"/>
                </a:solidFill>
                <a:highlight>
                  <a:srgbClr val="F0F2F5"/>
                </a:highlight>
                <a:latin typeface="Roboto"/>
                <a:ea typeface="Roboto"/>
                <a:cs typeface="Roboto"/>
                <a:sym typeface="Roboto"/>
              </a:rPr>
              <a:t>ROC-AUC = 0.91</a:t>
            </a:r>
            <a:r>
              <a:rPr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ru" sz="1150">
                <a:solidFill>
                  <a:srgbClr val="0A0A0A"/>
                </a:solidFill>
                <a:highlight>
                  <a:srgbClr val="F0F2F5"/>
                </a:highlight>
                <a:latin typeface="Roboto"/>
                <a:ea typeface="Roboto"/>
                <a:cs typeface="Roboto"/>
                <a:sym typeface="Roboto"/>
              </a:rPr>
              <a:t>Recall = 83%</a:t>
            </a:r>
            <a:r>
              <a:rPr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 (находим большинство рисковых студентов)</a:t>
            </a:r>
            <a:endParaRPr sz="1300">
              <a:solidFill>
                <a:srgbClr val="0A0A0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b="1"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Out-of-Time validation(M2 → M3) ROC-AUC:</a:t>
            </a:r>
            <a:r>
              <a:rPr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150">
                <a:solidFill>
                  <a:srgbClr val="0A0A0A"/>
                </a:solidFill>
                <a:highlight>
                  <a:srgbClr val="F0F2F5"/>
                </a:highlight>
                <a:latin typeface="Roboto"/>
                <a:ea typeface="Roboto"/>
                <a:cs typeface="Roboto"/>
                <a:sym typeface="Roboto"/>
              </a:rPr>
              <a:t>AUC = 0.74</a:t>
            </a:r>
            <a:endParaRPr sz="1300">
              <a:solidFill>
                <a:srgbClr val="0A0A0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Char char="●"/>
            </a:pPr>
            <a:r>
              <a:rPr b="1"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Вывод:</a:t>
            </a:r>
            <a:r>
              <a:rPr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 Обучение на данных </a:t>
            </a:r>
            <a:r>
              <a:rPr b="1"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только последнего завершенного модуля</a:t>
            </a:r>
            <a:r>
              <a:rPr lang="ru" sz="13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 работает лучше. Контекст текущего модуля важнее, чем вся история обучения (уменьшаем зашумленность)</a:t>
            </a:r>
            <a:endParaRPr sz="1300">
              <a:solidFill>
                <a:srgbClr val="0A0A0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План развития</a:t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AutoNum type="arabicPeriod"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Откалибровать risk score и survival probability, чтобы интерпретировать значения как вероятность оттока к дню х.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AutoNum type="arabicPeriod"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Обогатить датасет внешними данными, например: сложность темы и урока; даты дедлайнов; факт коммуникации тьютора;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AutoNum type="arabicPeriod"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Обучать модель на всех временных точках сразу и добавить days_passed как контекст. Это позволит точнее сравнивать риск на 7, 14, 21 день и на экваторе.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AutoNum type="arabicPeriod"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Добавить в данные для обучения модели информацию о предыдущих модулях студента.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666"/>
              </a:buClr>
              <a:buSzPts val="1600"/>
              <a:buFont typeface="Roboto"/>
              <a:buAutoNum type="arabicPeriod"/>
            </a:pPr>
            <a:r>
              <a:rPr lang="ru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Формирование аналитического отчета для поддержки студентов, находящихся в зоне риска, в режиме реального времени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Выводы и результаты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40"/>
          <p:cNvSpPr/>
          <p:nvPr/>
        </p:nvSpPr>
        <p:spPr>
          <a:xfrm>
            <a:off x="454775" y="1251575"/>
            <a:ext cx="6790800" cy="3400800"/>
          </a:xfrm>
          <a:prstGeom prst="roundRect">
            <a:avLst>
              <a:gd fmla="val 10975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Итоги работы: </a:t>
            </a:r>
            <a:endParaRPr b="0" i="0" sz="1600" u="none" cap="none" strike="noStrike">
              <a:solidFill>
                <a:schemeClr val="lt1"/>
              </a:solidFill>
              <a:highlight>
                <a:schemeClr val="accent6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Выявленные паттерны оттока студентов могут быть полезны Data-аналитику и ML-инженеру для последующего обучения и внедрения модели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Решение данной проблемы поможет методистам и тьюторам своевременно выявлять студентов из группы риска для точечного вмешательства и улучшать учебный контент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